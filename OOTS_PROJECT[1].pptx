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6"/>
  </p:notesMasterIdLst>
  <p:handoutMasterIdLst>
    <p:handoutMasterId r:id="rId17"/>
  </p:handoutMasterIdLst>
  <p:sldIdLst>
    <p:sldId id="316" r:id="rId2"/>
    <p:sldId id="265" r:id="rId3"/>
    <p:sldId id="306" r:id="rId4"/>
    <p:sldId id="307" r:id="rId5"/>
    <p:sldId id="308" r:id="rId6"/>
    <p:sldId id="309" r:id="rId7"/>
    <p:sldId id="310" r:id="rId8"/>
    <p:sldId id="311" r:id="rId9"/>
    <p:sldId id="312" r:id="rId10"/>
    <p:sldId id="313" r:id="rId11"/>
    <p:sldId id="314" r:id="rId12"/>
    <p:sldId id="315" r:id="rId13"/>
    <p:sldId id="305" r:id="rId14"/>
    <p:sldId id="304" r:id="rId15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1152">
          <p15:clr>
            <a:srgbClr val="A4A3A4"/>
          </p15:clr>
        </p15:guide>
        <p15:guide id="5" orient="horz" pos="3360">
          <p15:clr>
            <a:srgbClr val="A4A3A4"/>
          </p15:clr>
        </p15:guide>
        <p15:guide id="6" orient="horz" pos="3072">
          <p15:clr>
            <a:srgbClr val="A4A3A4"/>
          </p15:clr>
        </p15:guide>
        <p15:guide id="7" orient="horz" pos="864">
          <p15:clr>
            <a:srgbClr val="A4A3A4"/>
          </p15:clr>
        </p15:guide>
        <p15:guide id="8" orient="horz" pos="528">
          <p15:clr>
            <a:srgbClr val="A4A3A4"/>
          </p15:clr>
        </p15:guide>
        <p15:guide id="9" orient="horz" pos="2784">
          <p15:clr>
            <a:srgbClr val="A4A3A4"/>
          </p15:clr>
        </p15:guide>
        <p15:guide id="10" pos="3839">
          <p15:clr>
            <a:srgbClr val="A4A3A4"/>
          </p15:clr>
        </p15:guide>
        <p15:guide id="11" pos="959">
          <p15:clr>
            <a:srgbClr val="A4A3A4"/>
          </p15:clr>
        </p15:guide>
        <p15:guide id="12" pos="7007">
          <p15:clr>
            <a:srgbClr val="A4A3A4"/>
          </p15:clr>
        </p15:guide>
        <p15:guide id="13" pos="6719">
          <p15:clr>
            <a:srgbClr val="A4A3A4"/>
          </p15:clr>
        </p15:guide>
        <p15:guide id="14" pos="6143">
          <p15:clr>
            <a:srgbClr val="A4A3A4"/>
          </p15:clr>
        </p15:guide>
        <p15:guide id="15" pos="3983">
          <p15:clr>
            <a:srgbClr val="A4A3A4"/>
          </p15:clr>
        </p15:guide>
        <p15:guide id="16" pos="527">
          <p15:clr>
            <a:srgbClr val="A4A3A4"/>
          </p15:clr>
        </p15:guide>
        <p15:guide id="17" pos="7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66"/>
    <a:srgbClr val="FF9933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28"/>
        <p:guide orient="horz" pos="2784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A8D02-4E65-4CCD-8312-4AB164C6C77D}" type="datetimeFigureOut">
              <a:rPr lang="en-US"/>
              <a:pPr/>
              <a:t>11/7/2025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19DBA-4540-49B3-8FA9-6259387ECF9E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619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755D9-D361-47B8-9652-3B4EA9776CE5}" type="datetimeFigureOut">
              <a:rPr lang="en-US"/>
              <a:pPr/>
              <a:t>11/7/2025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36274-F2B9-4C45-BBB4-0EDF4CD651A7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688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371600"/>
            <a:ext cx="9144000" cy="3505200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953000"/>
            <a:ext cx="8229600" cy="1066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ADFAE-A28C-4CBB-AF1F-72965DEFCF4D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501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Clr>
                <a:schemeClr val="accent2"/>
              </a:buClr>
              <a:defRPr/>
            </a:lvl2pPr>
            <a:lvl5pPr>
              <a:defRPr/>
            </a:lvl5pPr>
            <a:lvl6pPr>
              <a:buClr>
                <a:schemeClr val="accent2"/>
              </a:buClr>
              <a:defRPr baseline="0"/>
            </a:lvl6pPr>
            <a:lvl7pPr>
              <a:buClr>
                <a:schemeClr val="accent2"/>
              </a:buClr>
              <a:defRPr baseline="0"/>
            </a:lvl7pPr>
            <a:lvl8pPr>
              <a:buClr>
                <a:schemeClr val="accent2"/>
              </a:buClr>
              <a:defRPr baseline="0"/>
            </a:lvl8pPr>
            <a:lvl9pPr>
              <a:buClr>
                <a:schemeClr val="accent2"/>
              </a:buCl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720CC-AFB4-4774-9973-5F4FD63F67E4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33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514601"/>
            <a:ext cx="9144000" cy="2819400"/>
          </a:xfrm>
        </p:spPr>
        <p:txBody>
          <a:bodyPr anchor="b">
            <a:noAutofit/>
          </a:bodyPr>
          <a:lstStyle>
            <a:lvl1pPr algn="l">
              <a:defRPr sz="6600" b="0" i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990600"/>
            <a:ext cx="8229600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219C8-3668-43E4-8F10-417AF16F4AE8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654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4" y="1828800"/>
            <a:ext cx="4645152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5412" y="1828800"/>
            <a:ext cx="4648201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4ADB7-B31A-4E12-961E-2F9942586B77}" type="datetime1">
              <a:rPr lang="en-US" smtClean="0"/>
              <a:t>11/7/2025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54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4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 baseline="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8462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8462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FBA1D-0AE4-4072-9344-6B3446182A65}" type="datetime1">
              <a:rPr lang="en-US" smtClean="0"/>
              <a:t>11/7/2025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924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7E49F-CE01-457A-AC92-DAF7CD063C1B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56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D71DA-9E8F-4F79-9D0F-E0E20202C29F}" type="datetime1">
              <a:rPr lang="en-US" smtClean="0"/>
              <a:t>11/7/2025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258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0012" y="838200"/>
            <a:ext cx="6172201" cy="5181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594BC-7097-4719-8543-0310B38B85B6}" type="datetime1">
              <a:rPr lang="en-US" smtClean="0"/>
              <a:t>11/7/2025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643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103812" y="457200"/>
            <a:ext cx="6629400" cy="5943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484812" y="836610"/>
            <a:ext cx="5867401" cy="518319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3852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E8FFB-A4C3-48E3-A9D4-C76F9599A2BB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316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2" y="533400"/>
            <a:ext cx="1371600" cy="5592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1" y="533400"/>
            <a:ext cx="8077201" cy="5592764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4218C-18F7-452D-9893-EB9AAEF0E253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540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-1" y="0"/>
            <a:ext cx="12188825" cy="6858000"/>
            <a:chOff x="-1" y="0"/>
            <a:chExt cx="12188825" cy="6858000"/>
          </a:xfrm>
        </p:grpSpPr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4164514" y="6705600"/>
              <a:ext cx="8024310" cy="152400"/>
            </a:xfrm>
            <a:prstGeom prst="rect">
              <a:avLst/>
            </a:prstGeom>
            <a:gradFill rotWithShape="0"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11680956" y="1981200"/>
              <a:ext cx="507868" cy="4267200"/>
            </a:xfrm>
            <a:prstGeom prst="rect">
              <a:avLst/>
            </a:prstGeom>
            <a:gradFill rotWithShape="0">
              <a:gsLst>
                <a:gs pos="0">
                  <a:schemeClr val="tx2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-1" y="5257800"/>
              <a:ext cx="609441" cy="1524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-1" y="5410200"/>
              <a:ext cx="609441" cy="144780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11680956" y="0"/>
              <a:ext cx="507868" cy="1981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7618015" y="0"/>
              <a:ext cx="4062942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3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609440" y="304800"/>
              <a:ext cx="711015" cy="762000"/>
            </a:xfrm>
            <a:prstGeom prst="rect">
              <a:avLst/>
            </a:prstGeom>
            <a:solidFill>
              <a:schemeClr val="bg2">
                <a:lumMod val="50000"/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5" name="Rectangle 15"/>
            <p:cNvSpPr>
              <a:spLocks noChangeArrowheads="1"/>
            </p:cNvSpPr>
            <p:nvPr/>
          </p:nvSpPr>
          <p:spPr bwMode="auto">
            <a:xfrm>
              <a:off x="-1" y="1066800"/>
              <a:ext cx="609441" cy="4191000"/>
            </a:xfrm>
            <a:prstGeom prst="rect">
              <a:avLst/>
            </a:prstGeom>
            <a:gradFill rotWithShape="0">
              <a:gsLst>
                <a:gs pos="0">
                  <a:schemeClr val="bg2">
                    <a:lumMod val="50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6" name="Rectangle 16"/>
            <p:cNvSpPr>
              <a:spLocks noChangeArrowheads="1"/>
            </p:cNvSpPr>
            <p:nvPr/>
          </p:nvSpPr>
          <p:spPr bwMode="auto">
            <a:xfrm>
              <a:off x="-1" y="304800"/>
              <a:ext cx="609441" cy="762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7" name="Rectangle 17"/>
            <p:cNvSpPr>
              <a:spLocks noChangeArrowheads="1"/>
            </p:cNvSpPr>
            <p:nvPr/>
          </p:nvSpPr>
          <p:spPr bwMode="auto">
            <a:xfrm>
              <a:off x="-1" y="0"/>
              <a:ext cx="1320456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1320455" y="0"/>
              <a:ext cx="6297560" cy="304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 flipV="1">
              <a:off x="609440" y="304800"/>
              <a:ext cx="0" cy="6553200"/>
            </a:xfrm>
            <a:prstGeom prst="line">
              <a:avLst/>
            </a:prstGeom>
            <a:noFill/>
            <a:ln w="7620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609440" y="6705600"/>
              <a:ext cx="11579384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 flipV="1">
              <a:off x="11680956" y="0"/>
              <a:ext cx="0" cy="670560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-1" y="304800"/>
              <a:ext cx="12188825" cy="0"/>
            </a:xfrm>
            <a:prstGeom prst="line">
              <a:avLst/>
            </a:prstGeom>
            <a:noFill/>
            <a:ln w="3810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 flipH="1">
              <a:off x="7618015" y="457200"/>
              <a:ext cx="4570809" cy="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 flipV="1">
              <a:off x="7618015" y="0"/>
              <a:ext cx="0" cy="45720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Line 25"/>
            <p:cNvSpPr>
              <a:spLocks noChangeShapeType="1"/>
            </p:cNvSpPr>
            <p:nvPr/>
          </p:nvSpPr>
          <p:spPr bwMode="auto">
            <a:xfrm>
              <a:off x="11680956" y="1981200"/>
              <a:ext cx="5078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1320455" y="0"/>
              <a:ext cx="0" cy="106680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 flipH="1">
              <a:off x="-1" y="1066800"/>
              <a:ext cx="1320456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Line 30"/>
            <p:cNvSpPr>
              <a:spLocks noChangeShapeType="1"/>
            </p:cNvSpPr>
            <p:nvPr/>
          </p:nvSpPr>
          <p:spPr bwMode="auto">
            <a:xfrm flipH="1">
              <a:off x="-1" y="5257800"/>
              <a:ext cx="609441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31"/>
            <p:cNvSpPr>
              <a:spLocks noChangeShapeType="1"/>
            </p:cNvSpPr>
            <p:nvPr/>
          </p:nvSpPr>
          <p:spPr bwMode="auto">
            <a:xfrm flipH="1">
              <a:off x="-1" y="5410200"/>
              <a:ext cx="60944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9601200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7950" y="6172200"/>
            <a:ext cx="6862462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OOTs Using JAVA Project PPT 2025-26 Odd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09012" y="6172200"/>
            <a:ext cx="1320059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2C52DEA1-2459-4E90-BE7C-F5A98918EE48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33012" y="6172200"/>
            <a:ext cx="9906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52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3838" algn="l" defTabSz="914400" rtl="0" eaLnBrk="1" latinLnBrk="0" hangingPunct="1">
        <a:lnSpc>
          <a:spcPct val="90000"/>
        </a:lnSpc>
        <a:spcBef>
          <a:spcPts val="800"/>
        </a:spcBef>
        <a:buClr>
          <a:schemeClr val="accent2"/>
        </a:buClr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1363" indent="-171450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67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80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44752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82496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57984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en/java/javase/" TargetMode="External"/><Relationship Id="rId2" Type="http://schemas.openxmlformats.org/officeDocument/2006/relationships/hyperlink" Target="https://docs.oracle.com/javase/tutorial/uiswing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429716" y="783121"/>
            <a:ext cx="9601200" cy="114300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"/>
                <a:cs typeface="Arial"/>
              </a:rPr>
              <a:t>PONG GAMES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(</a:t>
            </a:r>
            <a:r>
              <a:rPr lang="en-US" sz="2900" dirty="0">
                <a:latin typeface="Arial"/>
                <a:cs typeface="Arial"/>
              </a:rPr>
              <a:t>BCSE0352</a:t>
            </a:r>
            <a:r>
              <a:rPr lang="en-US" dirty="0">
                <a:latin typeface="Arial"/>
                <a:cs typeface="Arial"/>
              </a:rPr>
              <a:t>)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413892" y="1412775"/>
            <a:ext cx="9601200" cy="410724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lvl="0" indent="0" algn="ctr">
              <a:buNone/>
            </a:pPr>
            <a:endParaRPr lang="en-US" sz="1600" dirty="0">
              <a:latin typeface="Arial" pitchFamily="34" charset="0"/>
              <a:cs typeface="Arial" pitchFamily="34" charset="0"/>
            </a:endParaRPr>
          </a:p>
          <a:p>
            <a:pPr marL="0" lvl="0" indent="0" algn="ctr">
              <a:buNone/>
            </a:pPr>
            <a:endParaRPr lang="en-US" sz="1600" dirty="0">
              <a:latin typeface="Arial"/>
              <a:cs typeface="Arial"/>
            </a:endParaRPr>
          </a:p>
          <a:p>
            <a:pPr marL="0" lvl="0" indent="0" algn="ctr">
              <a:buNone/>
            </a:pPr>
            <a:r>
              <a:rPr lang="en-US" sz="1600" dirty="0">
                <a:latin typeface="Arial"/>
                <a:cs typeface="Arial"/>
              </a:rPr>
              <a:t>Department of Computer Science(CLOUD COMPUTING)            </a:t>
            </a:r>
          </a:p>
          <a:p>
            <a:pPr marL="0" lvl="0" indent="0" algn="ctr">
              <a:buNone/>
            </a:pPr>
            <a:r>
              <a:rPr lang="en-US" dirty="0">
                <a:latin typeface="Arial"/>
                <a:cs typeface="Arial"/>
              </a:rPr>
              <a:t>(Submitted To: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Dr DIVYA SINGHAL </a:t>
            </a:r>
            <a:r>
              <a:rPr lang="en-US" dirty="0">
                <a:latin typeface="Arial"/>
                <a:cs typeface="Arial"/>
              </a:rPr>
              <a:t>)</a:t>
            </a:r>
          </a:p>
          <a:p>
            <a:pPr marL="0" lv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>
              <a:buNone/>
            </a:pPr>
            <a:endParaRPr lang="en-US" dirty="0"/>
          </a:p>
          <a:p>
            <a:pPr marL="0" lvl="0" indent="0" algn="ctr">
              <a:buNone/>
            </a:pPr>
            <a:endParaRPr lang="en-US" dirty="0"/>
          </a:p>
          <a:p>
            <a:pPr marL="0" lvl="0" indent="0" algn="ctr">
              <a:buNone/>
            </a:pPr>
            <a:endParaRPr lang="en-US" dirty="0"/>
          </a:p>
          <a:p>
            <a:pPr marL="0" lvl="0" indent="0" algn="ctr">
              <a:buNone/>
            </a:pPr>
            <a:r>
              <a:rPr lang="en-US" dirty="0"/>
              <a:t>Group Members</a:t>
            </a:r>
          </a:p>
          <a:p>
            <a:pPr marL="0" lvl="0" indent="0" algn="ctr"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D35DFE-0D21-4638-83BD-6EE30128DF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445076"/>
              </p:ext>
            </p:extLst>
          </p:nvPr>
        </p:nvGraphicFramePr>
        <p:xfrm>
          <a:off x="1921160" y="3315396"/>
          <a:ext cx="8346504" cy="2145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5643">
                  <a:extLst>
                    <a:ext uri="{9D8B030D-6E8A-4147-A177-3AD203B41FA5}">
                      <a16:colId xmlns:a16="http://schemas.microsoft.com/office/drawing/2014/main" val="1489308670"/>
                    </a:ext>
                  </a:extLst>
                </a:gridCol>
                <a:gridCol w="2008333">
                  <a:extLst>
                    <a:ext uri="{9D8B030D-6E8A-4147-A177-3AD203B41FA5}">
                      <a16:colId xmlns:a16="http://schemas.microsoft.com/office/drawing/2014/main" val="3062725700"/>
                    </a:ext>
                  </a:extLst>
                </a:gridCol>
                <a:gridCol w="2779338">
                  <a:extLst>
                    <a:ext uri="{9D8B030D-6E8A-4147-A177-3AD203B41FA5}">
                      <a16:colId xmlns:a16="http://schemas.microsoft.com/office/drawing/2014/main" val="985814749"/>
                    </a:ext>
                  </a:extLst>
                </a:gridCol>
                <a:gridCol w="1973190">
                  <a:extLst>
                    <a:ext uri="{9D8B030D-6E8A-4147-A177-3AD203B41FA5}">
                      <a16:colId xmlns:a16="http://schemas.microsoft.com/office/drawing/2014/main" val="2731764778"/>
                    </a:ext>
                  </a:extLst>
                </a:gridCol>
              </a:tblGrid>
              <a:tr h="376248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" pitchFamily="34" charset="0"/>
                          <a:cs typeface="Arial" pitchFamily="34" charset="0"/>
                        </a:rPr>
                        <a:t>Name of 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" pitchFamily="34" charset="0"/>
                          <a:cs typeface="Arial" pitchFamily="34" charset="0"/>
                        </a:rPr>
                        <a:t>Roll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" pitchFamily="34" charset="0"/>
                          <a:cs typeface="Arial" pitchFamily="34" charset="0"/>
                        </a:rP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" pitchFamily="34" charset="0"/>
                          <a:cs typeface="Arial" pitchFamily="34" charset="0"/>
                        </a:rPr>
                        <a:t>Department n Section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739875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639081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TAMAN KUMARI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2401330120199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Designer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CS, 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880534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TANISHA BHATI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2401330120200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Presenter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CS, 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938205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NAVNEET SINGH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2401330120100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Documenter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CS,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0086947"/>
                  </a:ext>
                </a:extLst>
              </a:tr>
            </a:tbl>
          </a:graphicData>
        </a:graphic>
      </p:graphicFrame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C2D30C3A-395C-C608-9DE6-FE457955FE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740" y="738444"/>
            <a:ext cx="2209800" cy="94726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F07BBA-293C-9928-F41B-009D80BCD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</p:spTree>
    <p:extLst>
      <p:ext uri="{BB962C8B-B14F-4D97-AF65-F5344CB8AC3E}">
        <p14:creationId xmlns:p14="http://schemas.microsoft.com/office/powerpoint/2010/main" val="2594450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DEE56-5ACD-47A3-8DAE-BAA093015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itchFamily="34" charset="0"/>
                <a:cs typeface="Arial" pitchFamily="34" charset="0"/>
              </a:rPr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5BA36-30B6-42D8-82C9-C62A3F36F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en-US"/>
          </a:p>
          <a:p>
            <a:r>
              <a:rPr lang="en-US">
                <a:latin typeface="Arial" pitchFamily="34" charset="0"/>
                <a:cs typeface="Arial" pitchFamily="34" charset="0"/>
              </a:rPr>
              <a:t>Introduction</a:t>
            </a:r>
          </a:p>
          <a:p>
            <a:r>
              <a:rPr lang="en-US">
                <a:latin typeface="Arial" pitchFamily="34" charset="0"/>
                <a:cs typeface="Arial" pitchFamily="34" charset="0"/>
              </a:rPr>
              <a:t>Literature Survey/Existing System</a:t>
            </a:r>
          </a:p>
          <a:p>
            <a:r>
              <a:rPr lang="en-US">
                <a:latin typeface="Arial" pitchFamily="34" charset="0"/>
                <a:cs typeface="Arial" pitchFamily="34" charset="0"/>
              </a:rPr>
              <a:t>Problem Statement</a:t>
            </a:r>
          </a:p>
          <a:p>
            <a:r>
              <a:rPr lang="en-US">
                <a:latin typeface="Arial" pitchFamily="34" charset="0"/>
                <a:cs typeface="Arial" pitchFamily="34" charset="0"/>
              </a:rPr>
              <a:t>Proposed Methodology</a:t>
            </a:r>
          </a:p>
          <a:p>
            <a:r>
              <a:rPr lang="en-US">
                <a:latin typeface="Arial" pitchFamily="34" charset="0"/>
                <a:cs typeface="Arial" pitchFamily="34" charset="0"/>
              </a:rPr>
              <a:t>Flowcharts and Use Case/ER Diagrams</a:t>
            </a:r>
          </a:p>
          <a:p>
            <a:r>
              <a:rPr lang="en-US">
                <a:latin typeface="Arial" pitchFamily="34" charset="0"/>
                <a:cs typeface="Arial" pitchFamily="34" charset="0"/>
              </a:rPr>
              <a:t>Feasibility Study</a:t>
            </a:r>
          </a:p>
          <a:p>
            <a:r>
              <a:rPr lang="en-US">
                <a:latin typeface="Arial" pitchFamily="34" charset="0"/>
                <a:cs typeface="Arial" pitchFamily="34" charset="0"/>
              </a:rPr>
              <a:t>Hardware /Software Requirement</a:t>
            </a:r>
          </a:p>
          <a:p>
            <a:r>
              <a:rPr lang="en-US">
                <a:latin typeface="Arial" pitchFamily="34" charset="0"/>
                <a:cs typeface="Arial" pitchFamily="34" charset="0"/>
              </a:rPr>
              <a:t>Results and Conclusion</a:t>
            </a:r>
          </a:p>
          <a:p>
            <a:r>
              <a:rPr lang="en-US">
                <a:latin typeface="Arial" pitchFamily="34" charset="0"/>
                <a:cs typeface="Arial" pitchFamily="34" charset="0"/>
              </a:rPr>
              <a:t>References</a:t>
            </a:r>
          </a:p>
          <a:p>
            <a:r>
              <a:rPr lang="en-US">
                <a:latin typeface="Arial" pitchFamily="34" charset="0"/>
                <a:cs typeface="Arial" pitchFamily="34" charset="0"/>
              </a:rPr>
              <a:t>Live Demonstration of Project with screenshots in ppt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647FDC-4C42-4481-9FE6-05DF8CFF7D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5672" y="628650"/>
            <a:ext cx="2720340" cy="226695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969DE-A499-6371-67BC-7727378CC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614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B8585-4698-23E3-507A-E6A19D23B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4C116-B344-8F03-25E2-3BB41D382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Project Title:</a:t>
            </a:r>
            <a:r>
              <a:rPr lang="en-US" dirty="0"/>
              <a:t> Pong Game</a:t>
            </a:r>
          </a:p>
          <a:p>
            <a:r>
              <a:rPr lang="en-US" b="1" dirty="0"/>
              <a:t>Overview:</a:t>
            </a:r>
            <a:br>
              <a:rPr lang="en-US" dirty="0"/>
            </a:br>
            <a:r>
              <a:rPr lang="en-US" dirty="0"/>
              <a:t>This project is a simple recreation of the classic Pong game using Java's Swing and AWT libraries. It demonstrates core programming concepts such as GUI design, event handling, animation, and basic AI behavior.</a:t>
            </a:r>
          </a:p>
          <a:p>
            <a:r>
              <a:rPr lang="en-US" b="1" dirty="0"/>
              <a:t>Key Features:</a:t>
            </a:r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Player Paddle Control:</a:t>
            </a:r>
            <a:r>
              <a:rPr lang="en-US" dirty="0"/>
              <a:t> Controlled using UP and DOWN arrow keys.</a:t>
            </a:r>
          </a:p>
          <a:p>
            <a:r>
              <a:rPr lang="en-US" b="1" dirty="0"/>
              <a:t>AI Paddle Movement:</a:t>
            </a:r>
            <a:r>
              <a:rPr lang="en-US" dirty="0"/>
              <a:t> Automatically tracks the ball's position.</a:t>
            </a:r>
          </a:p>
          <a:p>
            <a:r>
              <a:rPr lang="en-US" dirty="0"/>
              <a:t> </a:t>
            </a:r>
            <a:r>
              <a:rPr lang="en-US" b="1" dirty="0"/>
              <a:t>Ball Physics:</a:t>
            </a:r>
            <a:r>
              <a:rPr lang="en-US" dirty="0"/>
              <a:t> Bounces off paddles and screen edges.</a:t>
            </a:r>
          </a:p>
          <a:p>
            <a:r>
              <a:rPr lang="en-US" dirty="0"/>
              <a:t> </a:t>
            </a:r>
            <a:r>
              <a:rPr lang="en-US" b="1" dirty="0"/>
              <a:t>Score Tracking:</a:t>
            </a:r>
            <a:r>
              <a:rPr lang="en-US" dirty="0"/>
              <a:t> Displays player and AI scores in real-time.</a:t>
            </a:r>
          </a:p>
          <a:p>
            <a:r>
              <a:rPr lang="en-US" dirty="0"/>
              <a:t> </a:t>
            </a:r>
            <a:r>
              <a:rPr lang="en-US" b="1" dirty="0"/>
              <a:t>Game Loop:</a:t>
            </a:r>
            <a:r>
              <a:rPr lang="en-US" dirty="0"/>
              <a:t> Uses </a:t>
            </a:r>
            <a:r>
              <a:rPr lang="en-US" dirty="0" err="1"/>
              <a:t>javax.swing.Timer</a:t>
            </a:r>
            <a:r>
              <a:rPr lang="en-US" dirty="0"/>
              <a:t> for smooth animation.</a:t>
            </a:r>
          </a:p>
          <a:p>
            <a:r>
              <a:rPr lang="en-US" b="1" dirty="0"/>
              <a:t>Purpose:</a:t>
            </a:r>
            <a:br>
              <a:rPr lang="en-US" dirty="0"/>
            </a:br>
            <a:r>
              <a:rPr lang="en-US" dirty="0"/>
              <a:t>To apply Java programming skills in building an interactive GUI-based game, reinforcing concepts like object movement, collision detection, and user input handling.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B0C4E1-A825-05A2-2DA9-F513D9FB3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</p:spTree>
    <p:extLst>
      <p:ext uri="{BB962C8B-B14F-4D97-AF65-F5344CB8AC3E}">
        <p14:creationId xmlns:p14="http://schemas.microsoft.com/office/powerpoint/2010/main" val="3214529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F4412-F86C-89FC-E678-E58A2BC0C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 / Existing System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ED8FFC-4DBC-3DBF-CA60-CA14CE8CB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63C2746-31AA-04B7-E8D3-61C41B0852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22414" y="2462363"/>
            <a:ext cx="9446881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one of the first arcade games, created by Atari in 1972.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versions exist today: web-based, mobile apps, and game engine-based.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systems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often use advanced tools or lack transparency in logic.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recreates Pong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pure Java (Swing/AWT)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educational clarity.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Focuses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programming concepts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GUI, animation, event handling, and basic AI.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8718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A3E42-3A31-8DEB-8BFF-BFE35C09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F155A-7244-5980-26CC-421EC4151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create a Pong game that is easy to understand, modify, and learn from—ideal for academic projects and concept reinforcement using</a:t>
            </a:r>
          </a:p>
          <a:p>
            <a:r>
              <a:rPr lang="en-US" dirty="0"/>
              <a:t>GUI design</a:t>
            </a:r>
          </a:p>
          <a:p>
            <a:r>
              <a:rPr lang="en-US" dirty="0"/>
              <a:t>Event handling</a:t>
            </a:r>
          </a:p>
          <a:p>
            <a:r>
              <a:rPr lang="en-US" dirty="0"/>
              <a:t>Ball and paddle movement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33FB5C-92BF-12AB-DFD7-5DC1A6E91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9FF9E9C-7CCA-C7DF-1E8E-BC743312C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7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DFDD966-F2AC-691F-1A91-ED6AFA8A5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170767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5967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DB76A-E6B4-240E-D1D3-487F5ACE2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Methodology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2A7500-65B4-6C1C-9127-B0D5E34CA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268241F-6968-29E7-6AC5-EB476D48C3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22414" y="1800642"/>
            <a:ext cx="8174033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1: GUI Setup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Java Swing to design the game window, paddles, ball, and score display.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2: Event Handling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keyboard controls for player paddle using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KeyListener</a:t>
            </a:r>
            <a:r>
              <a:rPr kumimoji="0" lang="en-US" altLang="en-US" sz="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3: Game Loop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javax.swing.Timer</a:t>
            </a:r>
            <a:r>
              <a:rPr kumimoji="0" lang="en-US" altLang="en-US" sz="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to update ball and paddle positions continuously.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4: Collision Detection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 ball interactions with paddles and screen edges to reverse direction.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5: AI Logic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 the opponent paddle to follow the ball’s vertical position.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6: Scoring System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 and display scores for both player and AI.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7: Testing &amp; Debugging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smooth gameplay, accurate collision, and responsive controls.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20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268EA-B439-BF0F-762E-31D01E449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Flowchart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C4C0B-45DA-B570-F59E-A3F118E03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lang="en-US" dirty="0"/>
              <a:t>Flow of Execution:</a:t>
            </a:r>
          </a:p>
          <a:p>
            <a:pPr marL="0" indent="0">
              <a:buNone/>
              <a:defRPr sz="2000"/>
            </a:pPr>
            <a:r>
              <a:rPr lang="en-US" dirty="0"/>
              <a:t>[Start] → [Initialize Game Window] → [Set Ball &amp; Paddle Positions] → [Start Game Loop]   → [Check Keyboard Input] → [Update Positions] → [Detect Collisions]   → [Update Scores if Needed] → [Repaint Screen] → [Repeat Loop] → [End]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60C891-2535-7DA6-CED4-C8992747C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</p:spTree>
    <p:extLst>
      <p:ext uri="{BB962C8B-B14F-4D97-AF65-F5344CB8AC3E}">
        <p14:creationId xmlns:p14="http://schemas.microsoft.com/office/powerpoint/2010/main" val="2967611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7DC08-113D-C29E-3BE6-6225E7B2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ECED3-9420-AB85-0A3C-63D4647FC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/>
            </a:pPr>
            <a:r>
              <a:rPr lang="en-US" dirty="0"/>
              <a:t>Player ─────▶ Start Game</a:t>
            </a:r>
          </a:p>
          <a:p>
            <a:pPr marL="0" indent="0">
              <a:buNone/>
              <a:defRPr sz="2000"/>
            </a:pPr>
            <a:r>
              <a:rPr lang="en-US" dirty="0"/>
              <a:t>Player ─────▶ Control Paddle</a:t>
            </a:r>
          </a:p>
          <a:p>
            <a:pPr marL="0" indent="0">
              <a:buNone/>
              <a:defRPr sz="2000"/>
            </a:pPr>
            <a:r>
              <a:rPr lang="en-US" dirty="0"/>
              <a:t>System ─────▶ Move Ball</a:t>
            </a:r>
          </a:p>
          <a:p>
            <a:pPr marL="0" indent="0">
              <a:buNone/>
              <a:defRPr sz="2000"/>
            </a:pPr>
            <a:r>
              <a:rPr lang="en-US" dirty="0"/>
              <a:t>System ─────▶ Detect Collision</a:t>
            </a:r>
          </a:p>
          <a:p>
            <a:pPr marL="0" indent="0">
              <a:buNone/>
              <a:defRPr sz="2000"/>
            </a:pPr>
            <a:r>
              <a:rPr lang="en-US" dirty="0"/>
              <a:t>System ─────▶ AI Paddle Movement</a:t>
            </a:r>
          </a:p>
          <a:p>
            <a:pPr marL="0" indent="0">
              <a:buNone/>
              <a:defRPr sz="2000"/>
            </a:pPr>
            <a:r>
              <a:rPr lang="en-US" dirty="0"/>
              <a:t>System ─────▶ Update Score</a:t>
            </a:r>
          </a:p>
          <a:p>
            <a:pPr marL="0" indent="0">
              <a:buNone/>
              <a:defRPr sz="2000"/>
            </a:pPr>
            <a:r>
              <a:rPr lang="en-US" dirty="0"/>
              <a:t>System ─────▶ Render Graphics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C1D8CD-410A-4B98-C250-AD6348DF0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</p:spTree>
    <p:extLst>
      <p:ext uri="{BB962C8B-B14F-4D97-AF65-F5344CB8AC3E}">
        <p14:creationId xmlns:p14="http://schemas.microsoft.com/office/powerpoint/2010/main" val="1348124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AF18D-2BF5-A2A8-4B70-8EB333FF1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Feasibility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BC027-561D-1C2B-C9F2-7E4DD9809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 Technical Feasibility</a:t>
            </a:r>
          </a:p>
          <a:p>
            <a:r>
              <a:rPr lang="en-US" b="1" dirty="0"/>
              <a:t>Uses core Java (Swing &amp; AWT), which is well-supported and platform-independent.</a:t>
            </a:r>
          </a:p>
          <a:p>
            <a:r>
              <a:rPr lang="en-US" b="1" dirty="0"/>
              <a:t>No need for external libraries or game engines.</a:t>
            </a:r>
          </a:p>
          <a:p>
            <a:r>
              <a:rPr lang="en-US" b="1" dirty="0"/>
              <a:t>Easily executable on standard systems with JDK installed.</a:t>
            </a:r>
          </a:p>
          <a:p>
            <a:r>
              <a:rPr lang="en-US" b="1" dirty="0"/>
              <a:t>Economic Feasibility</a:t>
            </a:r>
          </a:p>
          <a:p>
            <a:r>
              <a:rPr lang="en-US" b="1" dirty="0"/>
              <a:t>No cost involved—open-source tools and Java SDK are freely available.</a:t>
            </a:r>
          </a:p>
          <a:p>
            <a:r>
              <a:rPr lang="en-US" b="1" dirty="0"/>
              <a:t>Ideal for academic and learning purposes without financial investment.</a:t>
            </a:r>
          </a:p>
          <a:p>
            <a:r>
              <a:rPr lang="en-US" b="1" dirty="0"/>
              <a:t>Operational Feasibility</a:t>
            </a:r>
          </a:p>
          <a:p>
            <a:r>
              <a:rPr lang="en-US" b="1" dirty="0"/>
              <a:t>Simple controls and intuitive gameplay make it user-friendly.</a:t>
            </a:r>
          </a:p>
          <a:p>
            <a:r>
              <a:rPr lang="en-US" b="1" dirty="0"/>
              <a:t>Easy to maintain and extend (e.g., adding sound, levels, or multiplayer).</a:t>
            </a:r>
          </a:p>
          <a:p>
            <a:r>
              <a:rPr lang="en-US" b="1" dirty="0"/>
              <a:t>Time Feasibility</a:t>
            </a:r>
          </a:p>
          <a:p>
            <a:r>
              <a:rPr lang="en-US" b="1" dirty="0"/>
              <a:t>Can be developed within a short time frame.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18337F-B3F9-6C5D-A5DC-BC5920F30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</p:spTree>
    <p:extLst>
      <p:ext uri="{BB962C8B-B14F-4D97-AF65-F5344CB8AC3E}">
        <p14:creationId xmlns:p14="http://schemas.microsoft.com/office/powerpoint/2010/main" val="33317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C6EA0-C689-66AA-2548-B681BDB24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Hardware / Software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83DEA-7FED-D691-424D-53A21E44E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endParaRPr lang="en-IN" dirty="0"/>
          </a:p>
          <a:p>
            <a:pPr>
              <a:defRPr sz="2000"/>
            </a:pPr>
            <a:r>
              <a:rPr lang="en-IN" dirty="0"/>
              <a:t>Hardware: Intel i3/i5 Processor, 4GB RAM minimum.</a:t>
            </a:r>
          </a:p>
          <a:p>
            <a:pPr>
              <a:defRPr sz="2000"/>
            </a:pPr>
            <a:r>
              <a:rPr lang="en-IN" dirty="0"/>
              <a:t>Software: Windows/Linux OS, Java JDK 17+, IntelliJ IDEA or Eclipse.</a:t>
            </a:r>
          </a:p>
          <a:p>
            <a:pPr>
              <a:defRPr sz="2000"/>
            </a:pPr>
            <a:r>
              <a:rPr lang="en-IN" dirty="0"/>
              <a:t>Libraries: </a:t>
            </a:r>
            <a:r>
              <a:rPr lang="en-IN" dirty="0" err="1"/>
              <a:t>java.util</a:t>
            </a:r>
            <a:r>
              <a:rPr lang="en-IN" dirty="0"/>
              <a:t>, java.io, </a:t>
            </a:r>
            <a:r>
              <a:rPr lang="en-IN" dirty="0" err="1"/>
              <a:t>java.nio.file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03DD01-0D3E-A551-AB50-874658365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</p:spTree>
    <p:extLst>
      <p:ext uri="{BB962C8B-B14F-4D97-AF65-F5344CB8AC3E}">
        <p14:creationId xmlns:p14="http://schemas.microsoft.com/office/powerpoint/2010/main" val="3366884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274E2-F725-5F0A-B718-F8B11CE13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and Conclusion</a:t>
            </a:r>
          </a:p>
        </p:txBody>
      </p:sp>
      <p:pic>
        <p:nvPicPr>
          <p:cNvPr id="5" name="Recording OOTS">
            <a:hlinkClick r:id="" action="ppaction://media"/>
            <a:extLst>
              <a:ext uri="{FF2B5EF4-FFF2-40B4-BE49-F238E27FC236}">
                <a16:creationId xmlns:a16="http://schemas.microsoft.com/office/drawing/2014/main" id="{FDD68A27-A76C-98DE-6404-3E8C7A0BCE7E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451893" y="1647419"/>
            <a:ext cx="5954529" cy="3246634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D09C9B-CB9A-A4E7-E563-A1E768E7A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78927A61-E810-CDF8-19F6-37DBCCB83AF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05786" y="2088006"/>
            <a:ext cx="415733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Reinforced understanding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GUI programming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 handling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animation loops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game is modular and can be easily extended with features like sound, levels, or multiplayer.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great foundation for exploring more advanced game development in Java.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demonstrates how core Java concepts can be applied to build interactive games. </a:t>
            </a:r>
          </a:p>
        </p:txBody>
      </p:sp>
    </p:spTree>
    <p:extLst>
      <p:ext uri="{BB962C8B-B14F-4D97-AF65-F5344CB8AC3E}">
        <p14:creationId xmlns:p14="http://schemas.microsoft.com/office/powerpoint/2010/main" val="2282481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57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AE986-A3DF-0900-3C6D-552BEB8FD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6F3DD-1EC8-C690-FE37-992D96F30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r>
              <a:rPr lang="en-IN" dirty="0"/>
              <a:t>Java Swing &amp; AWT Documentation – </a:t>
            </a:r>
            <a:r>
              <a:rPr lang="en-IN" dirty="0">
                <a:hlinkClick r:id="rId2"/>
              </a:rPr>
              <a:t>https://docs.oracle.com/javase/tutorial/uiswing/</a:t>
            </a:r>
            <a:endParaRPr lang="en-IN" dirty="0"/>
          </a:p>
          <a:p>
            <a:r>
              <a:rPr lang="en-IN" dirty="0"/>
              <a:t>Oracle Java SE API – </a:t>
            </a:r>
            <a:r>
              <a:rPr lang="en-IN" dirty="0">
                <a:hlinkClick r:id="rId3"/>
              </a:rPr>
              <a:t>https://docs.oracle.com/en/java/javase/</a:t>
            </a:r>
            <a:endParaRPr lang="en-IN" dirty="0"/>
          </a:p>
          <a:p>
            <a:r>
              <a:rPr lang="en-IN" dirty="0"/>
              <a:t>Pong Game History – Atari Inc., 1972</a:t>
            </a:r>
          </a:p>
          <a:p>
            <a:r>
              <a:rPr lang="en-IN" dirty="0"/>
              <a:t>Java Game Development Tutorials – </a:t>
            </a:r>
            <a:r>
              <a:rPr lang="en-IN" dirty="0" err="1"/>
              <a:t>GeeksforGeeks</a:t>
            </a:r>
            <a:r>
              <a:rPr lang="en-IN" dirty="0"/>
              <a:t>, </a:t>
            </a:r>
            <a:r>
              <a:rPr lang="en-IN" dirty="0" err="1"/>
              <a:t>TutorialsPoint</a:t>
            </a:r>
            <a:r>
              <a:rPr lang="en-IN" dirty="0"/>
              <a:t>, YouTube</a:t>
            </a:r>
          </a:p>
          <a:p>
            <a:r>
              <a:rPr lang="en-IN" dirty="0"/>
              <a:t>IDEs Used – Eclipse / IntelliJ IDEA (optional for development)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50ABE9-ED8B-8530-9A90-DEC68ABA5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</p:spTree>
    <p:extLst>
      <p:ext uri="{BB962C8B-B14F-4D97-AF65-F5344CB8AC3E}">
        <p14:creationId xmlns:p14="http://schemas.microsoft.com/office/powerpoint/2010/main" val="61731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9504" y="2667000"/>
            <a:ext cx="9601200" cy="41910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GB" sz="8800">
                <a:solidFill>
                  <a:schemeClr val="accent1">
                    <a:lumMod val="75000"/>
                  </a:schemeClr>
                </a:solidFill>
              </a:rPr>
              <a:t>Thank You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3BA430-BAD9-FBE2-C508-F9B9BDB18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61AA5-D64D-404D-9F0D-B68D4DD73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itchFamily="34" charset="0"/>
                <a:cs typeface="Arial" pitchFamily="34" charset="0"/>
              </a:rPr>
              <a:t>Feedback from the Panel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191B4-BF36-4C6D-B04B-A777C2684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  <a:p>
            <a:r>
              <a:rPr lang="en-US">
                <a:latin typeface="Arial" pitchFamily="34" charset="0"/>
                <a:cs typeface="Arial" pitchFamily="34" charset="0"/>
              </a:rPr>
              <a:t>The panel wants the team to :</a:t>
            </a:r>
          </a:p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98DE8E-F248-E6F4-D7E3-99A5948A0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</p:spTree>
    <p:extLst>
      <p:ext uri="{BB962C8B-B14F-4D97-AF65-F5344CB8AC3E}">
        <p14:creationId xmlns:p14="http://schemas.microsoft.com/office/powerpoint/2010/main" val="3352143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ertical and Horizontal design templat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Vertical and horizontal design slides.potx" id="{7E307492-4344-40EC-954C-E30551E95991}" vid="{493C3130-E1FA-416B-8465-D41FAD56C1B7}"/>
    </a:ext>
  </a:extLst>
</a:theme>
</file>

<file path=ppt/theme/theme2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Vertical and horizontal design slides</Template>
  <TotalTime>355</TotalTime>
  <Words>976</Words>
  <Application>Microsoft Office PowerPoint</Application>
  <PresentationFormat>Custom</PresentationFormat>
  <Paragraphs>131</Paragraphs>
  <Slides>14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굴림</vt:lpstr>
      <vt:lpstr>Arial</vt:lpstr>
      <vt:lpstr>Arial Unicode MS</vt:lpstr>
      <vt:lpstr>Century Gothic</vt:lpstr>
      <vt:lpstr>Times New Roman</vt:lpstr>
      <vt:lpstr>Vertical and Horizontal design template</vt:lpstr>
      <vt:lpstr>PONG GAMES (BCSE0352)</vt:lpstr>
      <vt:lpstr>Index</vt:lpstr>
      <vt:lpstr>Introduction</vt:lpstr>
      <vt:lpstr>Literature Survey / Existing System</vt:lpstr>
      <vt:lpstr>Problem Statement</vt:lpstr>
      <vt:lpstr>Proposed Methodology</vt:lpstr>
      <vt:lpstr>Flowchart</vt:lpstr>
      <vt:lpstr>Use Case Diagram</vt:lpstr>
      <vt:lpstr>Feasibility Study</vt:lpstr>
      <vt:lpstr>Hardware / Software Requirements</vt:lpstr>
      <vt:lpstr>Results and Conclusion</vt:lpstr>
      <vt:lpstr>References</vt:lpstr>
      <vt:lpstr>PowerPoint Presentation</vt:lpstr>
      <vt:lpstr>Feedback from the Panel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Exam Duty Allocation</dc:title>
  <dc:creator>Sudhanshu</dc:creator>
  <cp:lastModifiedBy>TAMAN KUMARI</cp:lastModifiedBy>
  <cp:revision>16</cp:revision>
  <dcterms:created xsi:type="dcterms:W3CDTF">2017-11-16T17:39:44Z</dcterms:created>
  <dcterms:modified xsi:type="dcterms:W3CDTF">2025-11-07T03:58:56Z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74067800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